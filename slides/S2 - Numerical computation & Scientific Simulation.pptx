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3"/>
  </p:notesMasterIdLst>
  <p:sldIdLst>
    <p:sldId id="276" r:id="rId2"/>
    <p:sldId id="284" r:id="rId3"/>
    <p:sldId id="285" r:id="rId4"/>
    <p:sldId id="286" r:id="rId5"/>
    <p:sldId id="287" r:id="rId6"/>
    <p:sldId id="288" r:id="rId7"/>
    <p:sldId id="290" r:id="rId8"/>
    <p:sldId id="289" r:id="rId9"/>
    <p:sldId id="291" r:id="rId10"/>
    <p:sldId id="292" r:id="rId11"/>
    <p:sldId id="293" r:id="rId12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62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15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 Roldan Vasco" userId="31418594-e352-4801-9a96-51c3bb16e3dc" providerId="ADAL" clId="{0D3BE1EF-DF58-4EE0-95B8-6279B443D665}"/>
    <pc:docChg chg="addSld delSld">
      <pc:chgData name="Sebastian Roldan Vasco" userId="31418594-e352-4801-9a96-51c3bb16e3dc" providerId="ADAL" clId="{0D3BE1EF-DF58-4EE0-95B8-6279B443D665}" dt="2026-04-24T19:39:38.440" v="1" actId="47"/>
      <pc:docMkLst>
        <pc:docMk/>
      </pc:docMkLst>
      <pc:sldChg chg="new del">
        <pc:chgData name="Sebastian Roldan Vasco" userId="31418594-e352-4801-9a96-51c3bb16e3dc" providerId="ADAL" clId="{0D3BE1EF-DF58-4EE0-95B8-6279B443D665}" dt="2026-04-24T19:39:38.440" v="1" actId="47"/>
        <pc:sldMkLst>
          <pc:docMk/>
          <pc:sldMk cId="4112419741" sldId="29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A382A-AF57-DA44-AE3C-92B3E9D40F87}" type="datetimeFigureOut">
              <a:rPr lang="en-US" smtClean="0"/>
              <a:pPr/>
              <a:t>4/24/2026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Click to edit Master text styles</a:t>
            </a:r>
          </a:p>
          <a:p>
            <a:pPr lvl="1"/>
            <a:r>
              <a:rPr lang="es-ES_tradnl"/>
              <a:t>Second level</a:t>
            </a:r>
          </a:p>
          <a:p>
            <a:pPr lvl="2"/>
            <a:r>
              <a:rPr lang="es-ES_tradnl"/>
              <a:t>Third level</a:t>
            </a:r>
          </a:p>
          <a:p>
            <a:pPr lvl="3"/>
            <a:r>
              <a:rPr lang="es-ES_tradnl"/>
              <a:t>Fourth level</a:t>
            </a:r>
          </a:p>
          <a:p>
            <a:pPr lvl="4"/>
            <a:r>
              <a:rPr lang="es-ES_tradnl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D9058A-A6E6-6E41-8A6A-66B8A32E02D1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631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835CD5-9225-485D-87BA-21CF9399C9A2}" type="slidenum">
              <a:rPr lang="es-CO" smtClean="0"/>
              <a:pPr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9758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12E906-4741-40D7-9478-41F0CC0B0F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77F768F-B6A3-4485-92F6-7AB3701414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A18024-C239-41C7-8CF3-91AF73624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9AFB-43C0-410D-81C0-4D7D40B09E7B}" type="datetimeFigureOut">
              <a:rPr lang="es-CO" smtClean="0"/>
              <a:pPr/>
              <a:t>24/04/2026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52F16-4302-4D0D-AB03-E7E9FCF37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FAA502-A53A-498C-804F-22EB815DC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6022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42D17F-EDC4-4F4A-B385-8181931EF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2C8F24-EAEB-4F62-8745-0B5A13775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AF991C-C7F4-4ED2-8B10-089AB309D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9AFB-43C0-410D-81C0-4D7D40B09E7B}" type="datetimeFigureOut">
              <a:rPr lang="es-CO" smtClean="0"/>
              <a:pPr/>
              <a:t>24/04/2026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A1A08F-C12F-4704-BC68-4EE403B94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4D5B1E-573B-494A-B7E3-BB5DF9739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60603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5F2B0D-99FA-4A9A-A0CB-5A2B68E0F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8A62312-05D6-4482-AD9B-9E789357DF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0C9F44-77FE-43EF-8D14-9E6412B00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9AFB-43C0-410D-81C0-4D7D40B09E7B}" type="datetimeFigureOut">
              <a:rPr lang="es-CO" smtClean="0"/>
              <a:pPr/>
              <a:t>24/04/2026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6E8E68-1E98-4782-A1AE-C42FC1475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53B340-7248-4211-B41C-768DCAD8C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04841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EC1CB5-31CA-4B44-B90D-FBD210BD3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276C7E-7647-4A6F-9852-6195B42348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936BF28-D9A1-4998-81FF-DA25A1B301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08DCE88-0C55-4BB7-9016-CB3415666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9AFB-43C0-410D-81C0-4D7D40B09E7B}" type="datetimeFigureOut">
              <a:rPr lang="es-CO" smtClean="0"/>
              <a:pPr/>
              <a:t>24/04/2026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AD9448E-78D9-4F6E-9318-66C2EA579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449ABF0-FD3C-46BF-A7DB-13B65108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57815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F7DBEB-C5C6-49CF-9162-C7AC8CC88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AFDD3AB-2F27-4F3B-A751-F824E9EF8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1C1A42-95BD-47FB-8D29-3165CB589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A10A410-7A97-4B9D-AEFB-9038D6D5F7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89C8721-088C-4F9C-90B5-1F90081AE4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2410624-515D-4556-8B0F-4B14D5F8A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9AFB-43C0-410D-81C0-4D7D40B09E7B}" type="datetimeFigureOut">
              <a:rPr lang="es-CO" smtClean="0"/>
              <a:pPr/>
              <a:t>24/04/2026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526D442-3F7F-4E63-9D95-D2AE458E6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8B5490A-5B82-4FB0-B577-B14EEE0E1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61057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72D892-D28B-4F53-9F31-0FD247053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6E1E9A6-668E-4B06-8A0F-BD0CBF4EB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9AFB-43C0-410D-81C0-4D7D40B09E7B}" type="datetimeFigureOut">
              <a:rPr lang="es-CO" smtClean="0"/>
              <a:pPr/>
              <a:t>24/04/2026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4934B16-82D9-4728-A8E3-6B95DFF86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0CBED59-2457-486C-9200-03F7C7518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13636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1F9CC88-71DC-4479-8235-EB3ADDEF6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9AFB-43C0-410D-81C0-4D7D40B09E7B}" type="datetimeFigureOut">
              <a:rPr lang="es-CO" smtClean="0"/>
              <a:pPr/>
              <a:t>24/04/2026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12DF6FA-C605-4F60-AAA2-D88731129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6F51155-68E1-49FE-B330-289DC5FFF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24705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CA39A5-41CB-4FA6-85B2-15BBA6117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F02B50-389C-4490-ABD3-8CD0D1956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1CA15BD-15B4-43E7-B57E-E3AFE0BF1D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B3ED81A-C9B4-4E33-A8A8-29780FB69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9AFB-43C0-410D-81C0-4D7D40B09E7B}" type="datetimeFigureOut">
              <a:rPr lang="es-CO" smtClean="0"/>
              <a:pPr/>
              <a:t>24/04/2026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036517-F394-4392-8769-511B69491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495C785-D7E7-4A6F-8834-10F3253CE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33138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57E42-F403-4C7F-BCEB-D1604793E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7DB6F68-2DC8-44B4-82C0-9EB78D52DC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3A7429-15DE-426C-9A8D-84F0F629DE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B156D9C-8BDA-443F-9916-12E112004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9AFB-43C0-410D-81C0-4D7D40B09E7B}" type="datetimeFigureOut">
              <a:rPr lang="es-CO" smtClean="0"/>
              <a:pPr/>
              <a:t>24/04/2026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88BAD7D-0F0B-4622-901A-A63378EC7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F12AE96-3A72-4067-898D-FA3C690FF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39030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46562A-9143-4E9F-BB82-2365F2E62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1C61B4B-D3DE-4C00-B28E-1227C5C29A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4B8008-7546-4E25-AA9D-50C0BA2C9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9AFB-43C0-410D-81C0-4D7D40B09E7B}" type="datetimeFigureOut">
              <a:rPr lang="es-CO" smtClean="0"/>
              <a:pPr/>
              <a:t>24/04/2026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5420B7-7456-4AF1-B030-1A4E0DD68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EDB246-3C88-4FF3-8C05-C72F890D4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01932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9F884DA-4BBA-42C7-8963-45605CC23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20EA7BE-1335-4D8E-970A-4EE67EF98A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D130EB-85BB-473B-AA12-DD43A20ED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09AFB-43C0-410D-81C0-4D7D40B09E7B}" type="datetimeFigureOut">
              <a:rPr lang="es-CO" smtClean="0"/>
              <a:pPr/>
              <a:t>24/04/2026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44433E-53CB-40EA-B5C9-AEF5AF40D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9261FC-F8D4-44F6-9569-9EE3A8525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A1721-306C-4EB9-B7FF-B444EA89AC48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85828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167FB70-14A3-47B9-BAE4-183AA2A0E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7308370-8929-40C0-A916-8378ED5A75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975204-1F44-4694-AA3E-429AA71DD9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09AFB-43C0-410D-81C0-4D7D40B09E7B}" type="datetimeFigureOut">
              <a:rPr lang="es-CO" smtClean="0"/>
              <a:pPr/>
              <a:t>24/04/2026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7D580D-3EA0-49DE-A88C-DE917A1F80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843A20-8A00-45A4-A103-00B5F78C1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A1721-306C-4EB9-B7FF-B444EA89AC48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8918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s://github.com/scipy/scipy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s://github.com/scipy/scipy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539552" y="1412776"/>
            <a:ext cx="7772400" cy="2387600"/>
          </a:xfrm>
        </p:spPr>
        <p:txBody>
          <a:bodyPr>
            <a:normAutofit fontScale="90000"/>
          </a:bodyPr>
          <a:lstStyle/>
          <a:p>
            <a:r>
              <a:rPr lang="es-ES" sz="5000" dirty="0"/>
              <a:t>SCIENTIFIC COMPUTING</a:t>
            </a:r>
            <a:br>
              <a:rPr lang="es-ES" dirty="0"/>
            </a:br>
            <a:br>
              <a:rPr lang="es-ES" dirty="0"/>
            </a:br>
            <a:r>
              <a:rPr lang="es-ES" sz="4400" dirty="0" err="1"/>
              <a:t>Numerical</a:t>
            </a:r>
            <a:r>
              <a:rPr lang="es-ES" sz="4400" dirty="0"/>
              <a:t> </a:t>
            </a:r>
            <a:r>
              <a:rPr lang="es-ES" sz="4400" dirty="0" err="1"/>
              <a:t>computation</a:t>
            </a:r>
            <a:r>
              <a:rPr lang="es-ES" sz="4400" dirty="0"/>
              <a:t> &amp; </a:t>
            </a:r>
            <a:r>
              <a:rPr lang="es-ES" sz="4400" dirty="0" err="1"/>
              <a:t>Scientific</a:t>
            </a:r>
            <a:r>
              <a:rPr lang="es-ES" sz="4400" dirty="0"/>
              <a:t> </a:t>
            </a:r>
            <a:r>
              <a:rPr lang="es-ES" sz="4400" dirty="0" err="1"/>
              <a:t>Simulation</a:t>
            </a:r>
            <a:endParaRPr lang="es-ES" sz="4400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143000" y="4437112"/>
            <a:ext cx="6858000" cy="1655762"/>
          </a:xfrm>
        </p:spPr>
        <p:txBody>
          <a:bodyPr>
            <a:normAutofit/>
          </a:bodyPr>
          <a:lstStyle/>
          <a:p>
            <a:r>
              <a:rPr lang="es-ES" dirty="0"/>
              <a:t>SEBASTIÁN ROLDÁN VASCO, </a:t>
            </a:r>
            <a:r>
              <a:rPr lang="es-ES" dirty="0" err="1"/>
              <a:t>MSc</a:t>
            </a:r>
            <a:r>
              <a:rPr lang="es-ES" dirty="0"/>
              <a:t>., PhD.</a:t>
            </a:r>
          </a:p>
          <a:p>
            <a:r>
              <a:rPr lang="es-ES" dirty="0"/>
              <a:t>sebastianroldan@itm.edu.co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4E894-B59A-24BB-5BCE-5E23F95BB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 err="1"/>
              <a:t>NumPy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FCF41A6-0BA6-BA14-DA11-BFB99EBF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 Vasco, MSc, PhD | Scientific programming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EE8ACAA1-8BF5-D59E-8B39-1A7CD7F2E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NumPy is an open source project that enables numerical computing with Python.</a:t>
            </a:r>
          </a:p>
          <a:p>
            <a:endParaRPr lang="en-US" dirty="0"/>
          </a:p>
          <a:p>
            <a:r>
              <a:rPr lang="en-US" dirty="0"/>
              <a:t>NumPy is developed in the open on GitHub, through the consensus of the NumPy and wider scientific Python community. </a:t>
            </a:r>
          </a:p>
          <a:p>
            <a:endParaRPr lang="en-US" dirty="0"/>
          </a:p>
          <a:p>
            <a:r>
              <a:rPr lang="en-US" dirty="0"/>
              <a:t>Developers recommend the use of the Anaconda Distribution, but it isn’t mandatory</a:t>
            </a:r>
          </a:p>
          <a:p>
            <a:endParaRPr lang="en-US" dirty="0"/>
          </a:p>
          <a:p>
            <a:r>
              <a:rPr lang="en-US" dirty="0"/>
              <a:t>NumPy is the main scientific computation library for Python.</a:t>
            </a:r>
          </a:p>
          <a:p>
            <a:endParaRPr lang="en-US" dirty="0"/>
          </a:p>
          <a:p>
            <a:pPr marL="0" indent="0">
              <a:buNone/>
            </a:pPr>
            <a:endParaRPr lang="es-CO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E95F1DE-1BEA-75BA-B82E-A1D2125C7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4262" y="646854"/>
            <a:ext cx="895475" cy="7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586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4E894-B59A-24BB-5BCE-5E23F95BB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 err="1"/>
              <a:t>Scientific</a:t>
            </a:r>
            <a:r>
              <a:rPr lang="es-ES" dirty="0"/>
              <a:t> </a:t>
            </a:r>
            <a:r>
              <a:rPr lang="es-ES" dirty="0" err="1"/>
              <a:t>domain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FCF41A6-0BA6-BA14-DA11-BFB99EBF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 Vasco, MSc, PhD | Scientific programming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E95F1DE-1BEA-75BA-B82E-A1D2125C7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4262" y="646854"/>
            <a:ext cx="895475" cy="762106"/>
          </a:xfrm>
          <a:prstGeom prst="rect">
            <a:avLst/>
          </a:prstGeom>
        </p:spPr>
      </p:pic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5CFBEEAB-FC82-3A44-EBD6-34EA1A389B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8650" y="2029619"/>
            <a:ext cx="7886700" cy="394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322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4E894-B59A-24BB-5BCE-5E23F95BB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 err="1"/>
              <a:t>Ecosystem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FCF41A6-0BA6-BA14-DA11-BFB99EBF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 Vasco, MSc, PhD | Scientific programming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E95F1DE-1BEA-75BA-B82E-A1D2125C7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4262" y="646854"/>
            <a:ext cx="895475" cy="762106"/>
          </a:xfrm>
          <a:prstGeom prst="rect">
            <a:avLst/>
          </a:prstGeom>
        </p:spPr>
      </p:pic>
      <p:pic>
        <p:nvPicPr>
          <p:cNvPr id="11" name="Marcador de contenido 10">
            <a:extLst>
              <a:ext uri="{FF2B5EF4-FFF2-40B4-BE49-F238E27FC236}">
                <a16:creationId xmlns:a16="http://schemas.microsoft.com/office/drawing/2014/main" id="{C798EA8B-EF63-1012-2658-F5C2CA8EDE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09780" y="1556792"/>
            <a:ext cx="6258563" cy="4838081"/>
          </a:xfrm>
        </p:spPr>
      </p:pic>
    </p:spTree>
    <p:extLst>
      <p:ext uri="{BB962C8B-B14F-4D97-AF65-F5344CB8AC3E}">
        <p14:creationId xmlns:p14="http://schemas.microsoft.com/office/powerpoint/2010/main" val="3416275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4E894-B59A-24BB-5BCE-5E23F95BB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/>
              <a:t>Key </a:t>
            </a:r>
            <a:r>
              <a:rPr lang="es-ES" dirty="0" err="1"/>
              <a:t>features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FCF41A6-0BA6-BA14-DA11-BFB99EBF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 Vasco, MSc, PhD | Scientific programming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E95F1DE-1BEA-75BA-B82E-A1D2125C7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4262" y="646854"/>
            <a:ext cx="895475" cy="7621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Marcador de contenido 4">
                <a:extLst>
                  <a:ext uri="{FF2B5EF4-FFF2-40B4-BE49-F238E27FC236}">
                    <a16:creationId xmlns:a16="http://schemas.microsoft.com/office/drawing/2014/main" id="{C6CB9FB0-DB32-5E0C-275F-BAE6F585A5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 err="1"/>
                  <a:t>th</a:t>
                </a:r>
                <a:r>
                  <a:rPr lang="en-US" dirty="0"/>
                  <a:t>-dimensional arrays: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ndarray</a:t>
                </a:r>
                <a:r>
                  <a:rPr lang="en-US" dirty="0"/>
                  <a:t>. They hold elements of the same data type, making them efficient for numerical computations.</a:t>
                </a:r>
              </a:p>
              <a:p>
                <a:endParaRPr lang="en-US" dirty="0"/>
              </a:p>
              <a:p>
                <a:r>
                  <a:rPr lang="en-US" dirty="0"/>
                  <a:t>Mathematical functions: basic arithmetic operations, trigonometric functions, exponential and logarithmic functions, statistical functions, and more.</a:t>
                </a:r>
              </a:p>
              <a:p>
                <a:endParaRPr lang="en-US" dirty="0"/>
              </a:p>
              <a:p>
                <a:r>
                  <a:rPr lang="en-US" dirty="0"/>
                  <a:t>Broadcasting: efficient computation without the need for explicit looping over array elements.</a:t>
                </a:r>
              </a:p>
              <a:p>
                <a:endParaRPr lang="en-US" dirty="0"/>
              </a:p>
              <a:p>
                <a:r>
                  <a:rPr lang="en-US" dirty="0"/>
                  <a:t>Vectorized operations: faster execution compared to traditional iterative approaches.</a:t>
                </a:r>
              </a:p>
              <a:p>
                <a:endParaRPr lang="en-US" dirty="0"/>
              </a:p>
              <a:p>
                <a:r>
                  <a:rPr lang="en-US" dirty="0"/>
                  <a:t>Integration with other libraries: NumPy arrays are the underlying data structure of SciPy, Matplotlib, Pandas, and scikit-learn.</a:t>
                </a:r>
                <a:endParaRPr lang="es-CO" dirty="0"/>
              </a:p>
            </p:txBody>
          </p:sp>
        </mc:Choice>
        <mc:Fallback xmlns="">
          <p:sp>
            <p:nvSpPr>
              <p:cNvPr id="5" name="Marcador de contenido 4">
                <a:extLst>
                  <a:ext uri="{FF2B5EF4-FFF2-40B4-BE49-F238E27FC236}">
                    <a16:creationId xmlns:a16="http://schemas.microsoft.com/office/drawing/2014/main" id="{C6CB9FB0-DB32-5E0C-275F-BAE6F585A5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41" t="-238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2448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4E894-B59A-24BB-5BCE-5E23F95BB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 err="1"/>
              <a:t>NumPy</a:t>
            </a:r>
            <a:r>
              <a:rPr lang="es-ES" dirty="0"/>
              <a:t> </a:t>
            </a:r>
            <a:r>
              <a:rPr lang="es-ES" dirty="0" err="1"/>
              <a:t>arrays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FCF41A6-0BA6-BA14-DA11-BFB99EBF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 Vasco, MSc, PhD | Scientific programming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E95F1DE-1BEA-75BA-B82E-A1D2125C7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4262" y="646854"/>
            <a:ext cx="895475" cy="762106"/>
          </a:xfrm>
          <a:prstGeom prst="rect">
            <a:avLst/>
          </a:prstGeom>
        </p:spPr>
      </p:pic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C6CB9FB0-DB32-5E0C-275F-BAE6F585A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is an array?</a:t>
            </a:r>
          </a:p>
          <a:p>
            <a:endParaRPr lang="en-US" dirty="0"/>
          </a:p>
          <a:p>
            <a:r>
              <a:rPr lang="en-US" dirty="0"/>
              <a:t>It is a grid of elements that can be indexed in different ways.</a:t>
            </a:r>
          </a:p>
          <a:p>
            <a:r>
              <a:rPr lang="en-US" dirty="0"/>
              <a:t>All elements are of the same data type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-US" dirty="0"/>
              <a:t>).</a:t>
            </a:r>
          </a:p>
          <a:p>
            <a:r>
              <a:rPr lang="en-US" dirty="0"/>
              <a:t>Supported data types:</a:t>
            </a:r>
          </a:p>
          <a:p>
            <a:endParaRPr lang="en-US" dirty="0"/>
          </a:p>
          <a:p>
            <a:pPr lvl="1"/>
            <a:r>
              <a:rPr lang="en-US" dirty="0"/>
              <a:t>Signed and unsigned integers: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int8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uint8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int16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uint16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int32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uint32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int64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uint64</a:t>
            </a:r>
          </a:p>
          <a:p>
            <a:pPr lvl="1"/>
            <a:r>
              <a:rPr lang="en-US" dirty="0"/>
              <a:t>Floating-point numbers: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float16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float32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float64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float128</a:t>
            </a:r>
          </a:p>
          <a:p>
            <a:pPr lvl="1"/>
            <a:r>
              <a:rPr lang="en-US" dirty="0"/>
              <a:t>Booleans</a:t>
            </a:r>
          </a:p>
          <a:p>
            <a:pPr lvl="1"/>
            <a:r>
              <a:rPr lang="en-US" dirty="0"/>
              <a:t>Complex numbers: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complex64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complex128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complex256</a:t>
            </a:r>
          </a:p>
          <a:p>
            <a:pPr lvl="1"/>
            <a:r>
              <a:rPr lang="en-US" dirty="0"/>
              <a:t>Objects: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object</a:t>
            </a:r>
          </a:p>
        </p:txBody>
      </p:sp>
    </p:spTree>
    <p:extLst>
      <p:ext uri="{BB962C8B-B14F-4D97-AF65-F5344CB8AC3E}">
        <p14:creationId xmlns:p14="http://schemas.microsoft.com/office/powerpoint/2010/main" val="3273229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4E894-B59A-24BB-5BCE-5E23F95BB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 err="1"/>
              <a:t>Arrays</a:t>
            </a:r>
            <a:r>
              <a:rPr lang="es-ES" dirty="0"/>
              <a:t> vs. </a:t>
            </a:r>
            <a:r>
              <a:rPr lang="es-ES" dirty="0" err="1"/>
              <a:t>lists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FCF41A6-0BA6-BA14-DA11-BFB99EBF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 Vasco, MSc, PhD | Scientific programming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E95F1DE-1BEA-75BA-B82E-A1D2125C7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4262" y="646854"/>
            <a:ext cx="895475" cy="762106"/>
          </a:xfrm>
          <a:prstGeom prst="rect">
            <a:avLst/>
          </a:prstGeom>
        </p:spPr>
      </p:pic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C6CB9FB0-DB32-5E0C-275F-BAE6F585A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NumPy has a large number of numerical manipulation methods.</a:t>
            </a:r>
          </a:p>
          <a:p>
            <a:endParaRPr lang="en-US" dirty="0"/>
          </a:p>
          <a:p>
            <a:r>
              <a:rPr lang="en-US" dirty="0"/>
              <a:t>Lists can contain various data types, whereas NumPy data must be homogeneous.</a:t>
            </a:r>
          </a:p>
          <a:p>
            <a:endParaRPr lang="en-US" dirty="0"/>
          </a:p>
          <a:p>
            <a:r>
              <a:rPr lang="en-US" dirty="0"/>
              <a:t>NumPy arrays are faster and more compact than Python lists.</a:t>
            </a:r>
          </a:p>
          <a:p>
            <a:endParaRPr lang="en-US" dirty="0"/>
          </a:p>
          <a:p>
            <a:r>
              <a:rPr lang="en-US" dirty="0"/>
              <a:t>NumPy arrays occupy much less memory than Python lists.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4039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4E894-B59A-24BB-5BCE-5E23F95BB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 err="1"/>
              <a:t>Numpy</a:t>
            </a:r>
            <a:r>
              <a:rPr lang="es-ES" dirty="0"/>
              <a:t> </a:t>
            </a:r>
            <a:r>
              <a:rPr lang="es-ES" dirty="0" err="1"/>
              <a:t>arrays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FCF41A6-0BA6-BA14-DA11-BFB99EBF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 Vasco, MSc, PhD | Scientific programming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E95F1DE-1BEA-75BA-B82E-A1D2125C7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4262" y="646854"/>
            <a:ext cx="895475" cy="762106"/>
          </a:xfrm>
          <a:prstGeom prst="rect">
            <a:avLst/>
          </a:prstGeom>
        </p:spPr>
      </p:pic>
      <p:pic>
        <p:nvPicPr>
          <p:cNvPr id="2052" name="Picture 4" descr="tensors">
            <a:extLst>
              <a:ext uri="{FF2B5EF4-FFF2-40B4-BE49-F238E27FC236}">
                <a16:creationId xmlns:a16="http://schemas.microsoft.com/office/drawing/2014/main" id="{87CD066D-14F5-DFF0-1B83-7BC4C473322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2533851"/>
            <a:ext cx="7886700" cy="293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F74385B6-ED9B-4D2E-F62D-868C5630CBBA}"/>
              </a:ext>
            </a:extLst>
          </p:cNvPr>
          <p:cNvSpPr txBox="1"/>
          <p:nvPr/>
        </p:nvSpPr>
        <p:spPr>
          <a:xfrm>
            <a:off x="2733737" y="5487731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100" dirty="0"/>
              <a:t>https://madewithml.com/courses/foundations/numpy/</a:t>
            </a:r>
          </a:p>
        </p:txBody>
      </p:sp>
    </p:spTree>
    <p:extLst>
      <p:ext uri="{BB962C8B-B14F-4D97-AF65-F5344CB8AC3E}">
        <p14:creationId xmlns:p14="http://schemas.microsoft.com/office/powerpoint/2010/main" val="587807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4E894-B59A-24BB-5BCE-5E23F95BB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 err="1"/>
              <a:t>SciPy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FCF41A6-0BA6-BA14-DA11-BFB99EBF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 Vasco, MSc, PhD | Scientific programming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EE8ACAA1-8BF5-D59E-8B39-1A7CD7F2E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 err="1"/>
              <a:t>SciPy</a:t>
            </a:r>
            <a:r>
              <a:rPr lang="es-ES" dirty="0"/>
              <a:t> e</a:t>
            </a:r>
            <a:r>
              <a:rPr lang="en-US" b="0" i="0" dirty="0" err="1">
                <a:solidFill>
                  <a:srgbClr val="222832"/>
                </a:solidFill>
                <a:effectLst/>
                <a:latin typeface="-apple-system"/>
              </a:rPr>
              <a:t>xtends</a:t>
            </a:r>
            <a:r>
              <a:rPr lang="en-US" b="0" i="0" dirty="0">
                <a:solidFill>
                  <a:srgbClr val="222832"/>
                </a:solidFill>
                <a:effectLst/>
                <a:latin typeface="-apple-system"/>
              </a:rPr>
              <a:t> NumPy providing additional tools for:</a:t>
            </a:r>
          </a:p>
          <a:p>
            <a:pPr lvl="1"/>
            <a:r>
              <a:rPr lang="en-US" dirty="0">
                <a:solidFill>
                  <a:srgbClr val="222832"/>
                </a:solidFill>
                <a:latin typeface="-apple-system"/>
              </a:rPr>
              <a:t>A</a:t>
            </a:r>
            <a:r>
              <a:rPr lang="en-US" b="0" i="0" dirty="0">
                <a:solidFill>
                  <a:srgbClr val="222832"/>
                </a:solidFill>
                <a:effectLst/>
                <a:latin typeface="-apple-system"/>
              </a:rPr>
              <a:t>rray computing </a:t>
            </a:r>
          </a:p>
          <a:p>
            <a:pPr lvl="1"/>
            <a:r>
              <a:rPr lang="en-US" dirty="0">
                <a:solidFill>
                  <a:srgbClr val="222832"/>
                </a:solidFill>
                <a:latin typeface="-apple-system"/>
              </a:rPr>
              <a:t>S</a:t>
            </a:r>
            <a:r>
              <a:rPr lang="en-US" b="0" i="0" dirty="0">
                <a:solidFill>
                  <a:srgbClr val="222832"/>
                </a:solidFill>
                <a:effectLst/>
                <a:latin typeface="-apple-system"/>
              </a:rPr>
              <a:t>pecialized data structures, e.g. sparse matrices and k-dimensional trees.</a:t>
            </a:r>
            <a:endParaRPr lang="en-US" dirty="0"/>
          </a:p>
          <a:p>
            <a:endParaRPr lang="en-US" dirty="0"/>
          </a:p>
          <a:p>
            <a:r>
              <a:rPr lang="en-US" dirty="0"/>
              <a:t>SciPy is open-source. It is developed and maintained </a:t>
            </a:r>
            <a:r>
              <a:rPr lang="es-CO" b="0" i="0" dirty="0">
                <a:solidFill>
                  <a:srgbClr val="222832"/>
                </a:solidFill>
                <a:effectLst/>
                <a:latin typeface="-apple-system"/>
              </a:rPr>
              <a:t> </a:t>
            </a:r>
            <a:r>
              <a:rPr lang="es-CO" b="0" i="0" dirty="0" err="1">
                <a:effectLst/>
                <a:latin typeface="-apple-system"/>
                <a:hlinkClick r:id="rId2"/>
              </a:rPr>
              <a:t>publicly</a:t>
            </a:r>
            <a:r>
              <a:rPr lang="es-CO" b="0" i="0" dirty="0">
                <a:effectLst/>
                <a:latin typeface="-apple-system"/>
                <a:hlinkClick r:id="rId2"/>
              </a:rPr>
              <a:t> </a:t>
            </a:r>
            <a:r>
              <a:rPr lang="es-CO" b="0" i="0" dirty="0" err="1">
                <a:effectLst/>
                <a:latin typeface="-apple-system"/>
                <a:hlinkClick r:id="rId2"/>
              </a:rPr>
              <a:t>on</a:t>
            </a:r>
            <a:r>
              <a:rPr lang="es-CO" b="0" i="0" dirty="0">
                <a:effectLst/>
                <a:latin typeface="-apple-system"/>
                <a:hlinkClick r:id="rId2"/>
              </a:rPr>
              <a:t> GitHub</a:t>
            </a:r>
            <a:endParaRPr lang="es-CO" b="0" i="0" dirty="0">
              <a:effectLst/>
              <a:latin typeface="-apple-system"/>
            </a:endParaRPr>
          </a:p>
          <a:p>
            <a:endParaRPr lang="es-CO" dirty="0">
              <a:latin typeface="-apple-system"/>
            </a:endParaRPr>
          </a:p>
          <a:p>
            <a:r>
              <a:rPr lang="en-US" b="0" i="0" dirty="0">
                <a:solidFill>
                  <a:srgbClr val="222832"/>
                </a:solidFill>
                <a:effectLst/>
                <a:latin typeface="-apple-system"/>
              </a:rPr>
              <a:t>SciPy wraps highly-optimized implementations written in low-level languages like Fortran, C, and C++, but with a high-level syntax</a:t>
            </a:r>
          </a:p>
          <a:p>
            <a:endParaRPr lang="en-US" dirty="0">
              <a:solidFill>
                <a:srgbClr val="222832"/>
              </a:solidFill>
              <a:latin typeface="-apple-system"/>
            </a:endParaRPr>
          </a:p>
          <a:p>
            <a:r>
              <a:rPr lang="en-US" b="0" i="0" dirty="0">
                <a:solidFill>
                  <a:srgbClr val="222832"/>
                </a:solidFill>
                <a:effectLst/>
                <a:latin typeface="-apple-system"/>
              </a:rPr>
              <a:t>Algorithms for optimization, integration, interpolation, eigenvalue problems, algebraic equations, differential equations, etc.</a:t>
            </a:r>
            <a:endParaRPr lang="en-US" dirty="0"/>
          </a:p>
          <a:p>
            <a:pPr marL="0" indent="0">
              <a:buNone/>
            </a:pPr>
            <a:endParaRPr lang="es-CO" dirty="0"/>
          </a:p>
        </p:txBody>
      </p:sp>
      <p:pic>
        <p:nvPicPr>
          <p:cNvPr id="2050" name="Picture 2" descr="Resultado de imagen de SciPy Library Logo">
            <a:extLst>
              <a:ext uri="{FF2B5EF4-FFF2-40B4-BE49-F238E27FC236}">
                <a16:creationId xmlns:a16="http://schemas.microsoft.com/office/drawing/2014/main" id="{91685DB7-D99A-FB14-4EA7-11677F6B98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703881"/>
            <a:ext cx="1137692" cy="648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4207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4E894-B59A-24BB-5BCE-5E23F95BB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 err="1"/>
              <a:t>SciPy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FCF41A6-0BA6-BA14-DA11-BFB99EBF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 Vasco, MSc, PhD | Scientific programming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EE8ACAA1-8BF5-D59E-8B39-1A7CD7F2E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 err="1"/>
              <a:t>SciPy</a:t>
            </a:r>
            <a:r>
              <a:rPr lang="es-ES" dirty="0"/>
              <a:t> e</a:t>
            </a:r>
            <a:r>
              <a:rPr lang="en-US" b="0" i="0" dirty="0" err="1">
                <a:solidFill>
                  <a:srgbClr val="222832"/>
                </a:solidFill>
                <a:effectLst/>
                <a:latin typeface="-apple-system"/>
              </a:rPr>
              <a:t>xtends</a:t>
            </a:r>
            <a:r>
              <a:rPr lang="en-US" b="0" i="0" dirty="0">
                <a:solidFill>
                  <a:srgbClr val="222832"/>
                </a:solidFill>
                <a:effectLst/>
                <a:latin typeface="-apple-system"/>
              </a:rPr>
              <a:t> NumPy providing additional tools for:</a:t>
            </a:r>
          </a:p>
          <a:p>
            <a:pPr lvl="1"/>
            <a:r>
              <a:rPr lang="en-US" dirty="0">
                <a:solidFill>
                  <a:srgbClr val="222832"/>
                </a:solidFill>
                <a:latin typeface="-apple-system"/>
              </a:rPr>
              <a:t>A</a:t>
            </a:r>
            <a:r>
              <a:rPr lang="en-US" b="0" i="0" dirty="0">
                <a:solidFill>
                  <a:srgbClr val="222832"/>
                </a:solidFill>
                <a:effectLst/>
                <a:latin typeface="-apple-system"/>
              </a:rPr>
              <a:t>rray computing </a:t>
            </a:r>
          </a:p>
          <a:p>
            <a:pPr lvl="1"/>
            <a:r>
              <a:rPr lang="en-US" dirty="0">
                <a:solidFill>
                  <a:srgbClr val="222832"/>
                </a:solidFill>
                <a:latin typeface="-apple-system"/>
              </a:rPr>
              <a:t>S</a:t>
            </a:r>
            <a:r>
              <a:rPr lang="en-US" b="0" i="0" dirty="0">
                <a:solidFill>
                  <a:srgbClr val="222832"/>
                </a:solidFill>
                <a:effectLst/>
                <a:latin typeface="-apple-system"/>
              </a:rPr>
              <a:t>pecialized data structures, e.g. sparse matrices and k-dimensional trees.</a:t>
            </a:r>
            <a:endParaRPr lang="en-US" dirty="0"/>
          </a:p>
          <a:p>
            <a:endParaRPr lang="en-US" dirty="0"/>
          </a:p>
          <a:p>
            <a:r>
              <a:rPr lang="en-US" dirty="0"/>
              <a:t>SciPy is open-source. It is developed and maintained </a:t>
            </a:r>
            <a:r>
              <a:rPr lang="es-CO" b="0" i="0" dirty="0">
                <a:solidFill>
                  <a:srgbClr val="222832"/>
                </a:solidFill>
                <a:effectLst/>
                <a:latin typeface="-apple-system"/>
              </a:rPr>
              <a:t> </a:t>
            </a:r>
            <a:r>
              <a:rPr lang="es-CO" b="0" i="0" dirty="0" err="1">
                <a:effectLst/>
                <a:latin typeface="-apple-system"/>
                <a:hlinkClick r:id="rId2"/>
              </a:rPr>
              <a:t>publicly</a:t>
            </a:r>
            <a:r>
              <a:rPr lang="es-CO" b="0" i="0" dirty="0">
                <a:effectLst/>
                <a:latin typeface="-apple-system"/>
                <a:hlinkClick r:id="rId2"/>
              </a:rPr>
              <a:t> </a:t>
            </a:r>
            <a:r>
              <a:rPr lang="es-CO" b="0" i="0" dirty="0" err="1">
                <a:effectLst/>
                <a:latin typeface="-apple-system"/>
                <a:hlinkClick r:id="rId2"/>
              </a:rPr>
              <a:t>on</a:t>
            </a:r>
            <a:r>
              <a:rPr lang="es-CO" b="0" i="0" dirty="0">
                <a:effectLst/>
                <a:latin typeface="-apple-system"/>
                <a:hlinkClick r:id="rId2"/>
              </a:rPr>
              <a:t> GitHub</a:t>
            </a:r>
            <a:endParaRPr lang="es-CO" b="0" i="0" dirty="0">
              <a:effectLst/>
              <a:latin typeface="-apple-system"/>
            </a:endParaRPr>
          </a:p>
          <a:p>
            <a:endParaRPr lang="es-CO" dirty="0">
              <a:latin typeface="-apple-system"/>
            </a:endParaRPr>
          </a:p>
          <a:p>
            <a:r>
              <a:rPr lang="en-US" b="0" i="0" dirty="0">
                <a:solidFill>
                  <a:srgbClr val="222832"/>
                </a:solidFill>
                <a:effectLst/>
                <a:latin typeface="-apple-system"/>
              </a:rPr>
              <a:t>SciPy wraps highly-optimized implementations written in low-level languages like Fortran, C, and C++, but with a high-level syntax</a:t>
            </a:r>
          </a:p>
          <a:p>
            <a:endParaRPr lang="en-US" dirty="0">
              <a:solidFill>
                <a:srgbClr val="222832"/>
              </a:solidFill>
              <a:latin typeface="-apple-system"/>
            </a:endParaRPr>
          </a:p>
          <a:p>
            <a:r>
              <a:rPr lang="en-US" b="0" i="0" dirty="0">
                <a:solidFill>
                  <a:srgbClr val="222832"/>
                </a:solidFill>
                <a:effectLst/>
                <a:latin typeface="-apple-system"/>
              </a:rPr>
              <a:t>Algorithms for optimization, integration, interpolation, eigenvalue problems, algebraic equations, differential equations, etc.</a:t>
            </a:r>
            <a:endParaRPr lang="en-US" dirty="0"/>
          </a:p>
          <a:p>
            <a:pPr marL="0" indent="0">
              <a:buNone/>
            </a:pPr>
            <a:endParaRPr lang="es-CO" dirty="0"/>
          </a:p>
        </p:txBody>
      </p:sp>
      <p:pic>
        <p:nvPicPr>
          <p:cNvPr id="2050" name="Picture 2" descr="Resultado de imagen de SciPy Library Logo">
            <a:extLst>
              <a:ext uri="{FF2B5EF4-FFF2-40B4-BE49-F238E27FC236}">
                <a16:creationId xmlns:a16="http://schemas.microsoft.com/office/drawing/2014/main" id="{91685DB7-D99A-FB14-4EA7-11677F6B98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703881"/>
            <a:ext cx="1137692" cy="648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7650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4E894-B59A-24BB-5BCE-5E23F95BB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 err="1"/>
              <a:t>SciPy</a:t>
            </a:r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FCF41A6-0BA6-BA14-DA11-BFB99EBF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CO"/>
              <a:t>Sebastián Roldán Vasco, MSc, PhD | Scientific programming</a:t>
            </a:r>
          </a:p>
        </p:txBody>
      </p:sp>
      <p:pic>
        <p:nvPicPr>
          <p:cNvPr id="2050" name="Picture 2" descr="Resultado de imagen de SciPy Library Logo">
            <a:extLst>
              <a:ext uri="{FF2B5EF4-FFF2-40B4-BE49-F238E27FC236}">
                <a16:creationId xmlns:a16="http://schemas.microsoft.com/office/drawing/2014/main" id="{91685DB7-D99A-FB14-4EA7-11677F6B98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703881"/>
            <a:ext cx="1137692" cy="648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a 7">
            <a:extLst>
              <a:ext uri="{FF2B5EF4-FFF2-40B4-BE49-F238E27FC236}">
                <a16:creationId xmlns:a16="http://schemas.microsoft.com/office/drawing/2014/main" id="{A7009A45-133A-D554-8D3C-31E11A82A03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1825625"/>
          <a:ext cx="7886700" cy="3238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3350">
                  <a:extLst>
                    <a:ext uri="{9D8B030D-6E8A-4147-A177-3AD203B41FA5}">
                      <a16:colId xmlns:a16="http://schemas.microsoft.com/office/drawing/2014/main" val="2887632348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989255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NumPy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SciPy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7545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350" b="0" kern="1200" dirty="0">
                          <a:solidFill>
                            <a:schemeClr val="dk1"/>
                          </a:solidFill>
                          <a:effectLst/>
                        </a:rPr>
                        <a:t>Focused on numerical computing with arrays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50" b="0" kern="1200" dirty="0">
                          <a:solidFill>
                            <a:schemeClr val="dk1"/>
                          </a:solidFill>
                          <a:effectLst/>
                        </a:rPr>
                        <a:t>SciPy is built on top of NumPy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697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350" b="0" kern="1200" dirty="0">
                          <a:solidFill>
                            <a:schemeClr val="dk1"/>
                          </a:solidFill>
                          <a:effectLst/>
                        </a:rPr>
                        <a:t>It </a:t>
                      </a:r>
                      <a:r>
                        <a:rPr lang="es-CO" sz="1350" b="0" kern="1200" dirty="0" err="1">
                          <a:solidFill>
                            <a:schemeClr val="dk1"/>
                          </a:solidFill>
                          <a:effectLst/>
                        </a:rPr>
                        <a:t>provides</a:t>
                      </a:r>
                      <a:r>
                        <a:rPr lang="es-CO" sz="1350" b="0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s-CO" sz="1350" b="0" kern="1200" dirty="0" err="1">
                          <a:solidFill>
                            <a:schemeClr val="dk1"/>
                          </a:solidFill>
                          <a:effectLst/>
                        </a:rPr>
                        <a:t>support</a:t>
                      </a:r>
                      <a:r>
                        <a:rPr lang="es-CO" sz="1350" b="0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s-CO" sz="1350" b="0" kern="1200" dirty="0" err="1">
                          <a:solidFill>
                            <a:schemeClr val="dk1"/>
                          </a:solidFill>
                          <a:effectLst/>
                        </a:rPr>
                        <a:t>for</a:t>
                      </a:r>
                      <a:r>
                        <a:rPr lang="es-CO" sz="1350" b="0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s-CO" sz="1350" b="0" kern="1200" dirty="0" err="1">
                          <a:solidFill>
                            <a:schemeClr val="dk1"/>
                          </a:solidFill>
                          <a:effectLst/>
                        </a:rPr>
                        <a:t>multi-dimensional</a:t>
                      </a:r>
                      <a:r>
                        <a:rPr lang="es-CO" sz="1350" b="0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s-CO" sz="1350" b="0" kern="1200" dirty="0" err="1">
                          <a:solidFill>
                            <a:schemeClr val="dk1"/>
                          </a:solidFill>
                          <a:effectLst/>
                        </a:rPr>
                        <a:t>arrays</a:t>
                      </a:r>
                      <a:r>
                        <a:rPr lang="es-CO" sz="1350" b="0" kern="1200" dirty="0">
                          <a:solidFill>
                            <a:schemeClr val="dk1"/>
                          </a:solidFill>
                          <a:effectLst/>
                        </a:rPr>
                        <a:t> and matrices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350" b="0" kern="1200" dirty="0" err="1">
                          <a:solidFill>
                            <a:schemeClr val="dk1"/>
                          </a:solidFill>
                          <a:effectLst/>
                        </a:rPr>
                        <a:t>It</a:t>
                      </a:r>
                      <a:r>
                        <a:rPr lang="es-CO" sz="1350" b="0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s-CO" sz="1350" b="0" kern="1200" dirty="0" err="1">
                          <a:solidFill>
                            <a:schemeClr val="dk1"/>
                          </a:solidFill>
                          <a:effectLst/>
                        </a:rPr>
                        <a:t>includes</a:t>
                      </a:r>
                      <a:r>
                        <a:rPr lang="es-CO" sz="1350" b="0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n-US" sz="1350" b="0" kern="1200" dirty="0">
                          <a:solidFill>
                            <a:schemeClr val="dk1"/>
                          </a:solidFill>
                          <a:effectLst/>
                        </a:rPr>
                        <a:t>modules for optimization, integration, interpolation, linear algebra, statistics, signal processing, and more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9444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350" b="0" kern="1200" dirty="0" err="1">
                          <a:solidFill>
                            <a:schemeClr val="dk1"/>
                          </a:solidFill>
                          <a:effectLst/>
                        </a:rPr>
                        <a:t>Efficient</a:t>
                      </a:r>
                      <a:r>
                        <a:rPr lang="es-CO" sz="1350" b="0" kern="1200" dirty="0">
                          <a:solidFill>
                            <a:schemeClr val="dk1"/>
                          </a:solidFill>
                          <a:effectLst/>
                        </a:rPr>
                        <a:t> array </a:t>
                      </a:r>
                      <a:r>
                        <a:rPr lang="es-CO" sz="1350" b="0" kern="1200" dirty="0" err="1">
                          <a:solidFill>
                            <a:schemeClr val="dk1"/>
                          </a:solidFill>
                          <a:effectLst/>
                        </a:rPr>
                        <a:t>operations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350" b="0" kern="1200" dirty="0" err="1">
                          <a:solidFill>
                            <a:schemeClr val="dk1"/>
                          </a:solidFill>
                          <a:effectLst/>
                        </a:rPr>
                        <a:t>Higher-level</a:t>
                      </a:r>
                      <a:r>
                        <a:rPr lang="es-CO" sz="1350" b="0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s-CO" sz="1350" b="0" kern="1200" dirty="0" err="1">
                          <a:solidFill>
                            <a:schemeClr val="dk1"/>
                          </a:solidFill>
                          <a:effectLst/>
                        </a:rPr>
                        <a:t>functionality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8685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1350" b="0" kern="1200" dirty="0">
                          <a:solidFill>
                            <a:schemeClr val="dk1"/>
                          </a:solidFill>
                          <a:effectLst/>
                        </a:rPr>
                        <a:t>Core </a:t>
                      </a:r>
                      <a:r>
                        <a:rPr lang="es-CO" sz="1350" b="0" kern="1200" dirty="0" err="1">
                          <a:solidFill>
                            <a:schemeClr val="dk1"/>
                          </a:solidFill>
                          <a:effectLst/>
                        </a:rPr>
                        <a:t>functionality</a:t>
                      </a:r>
                      <a:r>
                        <a:rPr lang="es-CO" sz="1350" b="0" kern="1200" dirty="0">
                          <a:solidFill>
                            <a:schemeClr val="dk1"/>
                          </a:solidFill>
                          <a:effectLst/>
                        </a:rPr>
                        <a:t>: </a:t>
                      </a:r>
                      <a:r>
                        <a:rPr lang="en-US" sz="1350" b="0" kern="1200" dirty="0">
                          <a:solidFill>
                            <a:schemeClr val="dk1"/>
                          </a:solidFill>
                          <a:effectLst/>
                        </a:rPr>
                        <a:t>basic mathematical functions, array creation routines, indexing, slicing, and reshaping operations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350" b="0" kern="1200" dirty="0" err="1">
                          <a:solidFill>
                            <a:schemeClr val="dk1"/>
                          </a:solidFill>
                          <a:effectLst/>
                        </a:rPr>
                        <a:t>Integration</a:t>
                      </a:r>
                      <a:r>
                        <a:rPr lang="es-CO" sz="1350" b="0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s-CO" sz="1350" b="0" kern="1200" dirty="0" err="1">
                          <a:solidFill>
                            <a:schemeClr val="dk1"/>
                          </a:solidFill>
                          <a:effectLst/>
                        </a:rPr>
                        <a:t>with</a:t>
                      </a:r>
                      <a:r>
                        <a:rPr lang="es-CO" sz="1350" b="0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s-CO" sz="1350" b="0" kern="1200" dirty="0" err="1">
                          <a:solidFill>
                            <a:schemeClr val="dk1"/>
                          </a:solidFill>
                          <a:effectLst/>
                        </a:rPr>
                        <a:t>other</a:t>
                      </a:r>
                      <a:r>
                        <a:rPr lang="es-CO" sz="1350" b="0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s-CO" sz="1350" b="0" kern="1200" dirty="0" err="1">
                          <a:solidFill>
                            <a:schemeClr val="dk1"/>
                          </a:solidFill>
                          <a:effectLst/>
                        </a:rPr>
                        <a:t>libraries</a:t>
                      </a:r>
                      <a:endParaRPr lang="es-CO" dirty="0"/>
                    </a:p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017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50" b="0" kern="1200" dirty="0">
                          <a:solidFill>
                            <a:schemeClr val="dk1"/>
                          </a:solidFill>
                          <a:effectLst/>
                        </a:rPr>
                        <a:t>Basic linear algebra: matrix multiplication, determinant calculation, and solving linear equations</a:t>
                      </a:r>
                    </a:p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1350" b="0" kern="1200" dirty="0" err="1">
                          <a:solidFill>
                            <a:schemeClr val="dk1"/>
                          </a:solidFill>
                          <a:effectLst/>
                        </a:rPr>
                        <a:t>Advanced</a:t>
                      </a:r>
                      <a:r>
                        <a:rPr lang="es-CO" sz="1350" b="0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s-CO" sz="1350" b="0" kern="1200" dirty="0" err="1">
                          <a:solidFill>
                            <a:schemeClr val="dk1"/>
                          </a:solidFill>
                          <a:effectLst/>
                        </a:rPr>
                        <a:t>algorithms</a:t>
                      </a:r>
                      <a:r>
                        <a:rPr lang="es-CO" sz="1350" b="0" kern="1200" dirty="0">
                          <a:solidFill>
                            <a:schemeClr val="dk1"/>
                          </a:solidFill>
                          <a:effectLst/>
                        </a:rPr>
                        <a:t>: </a:t>
                      </a:r>
                      <a:r>
                        <a:rPr lang="en-US" sz="1350" b="0" kern="1200" dirty="0">
                          <a:solidFill>
                            <a:schemeClr val="dk1"/>
                          </a:solidFill>
                          <a:effectLst/>
                        </a:rPr>
                        <a:t>numerical integration, optimization algorithms, and special mathematical functions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73234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47225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5611</TotalTime>
  <Words>673</Words>
  <Application>Microsoft Office PowerPoint</Application>
  <PresentationFormat>Presentación en pantalla (4:3)</PresentationFormat>
  <Paragraphs>89</Paragraphs>
  <Slides>11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8" baseType="lpstr">
      <vt:lpstr>-apple-system</vt:lpstr>
      <vt:lpstr>Arial</vt:lpstr>
      <vt:lpstr>Calibri</vt:lpstr>
      <vt:lpstr>Calibri Light</vt:lpstr>
      <vt:lpstr>Cambria Math</vt:lpstr>
      <vt:lpstr>Courier New</vt:lpstr>
      <vt:lpstr>Tema de Office</vt:lpstr>
      <vt:lpstr>SCIENTIFIC COMPUTING  Numerical computation &amp; Scientific Simulation</vt:lpstr>
      <vt:lpstr>NumPy</vt:lpstr>
      <vt:lpstr>Scientific domain</vt:lpstr>
      <vt:lpstr>Ecosystem</vt:lpstr>
      <vt:lpstr>Key features</vt:lpstr>
      <vt:lpstr>NumPy arrays</vt:lpstr>
      <vt:lpstr>Arrays vs. lists</vt:lpstr>
      <vt:lpstr>Numpy arrays</vt:lpstr>
      <vt:lpstr>SciPy</vt:lpstr>
      <vt:lpstr>SciPy</vt:lpstr>
      <vt:lpstr>SciPy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ESTUDIANTES MATRICULADOS  2010-02 ROBLEDO - FRATERNIDAD</dc:title>
  <dc:creator>marjoriebedoya</dc:creator>
  <cp:lastModifiedBy>Sebastian Roldan Vasco</cp:lastModifiedBy>
  <cp:revision>244</cp:revision>
  <cp:lastPrinted>2013-04-04T20:52:12Z</cp:lastPrinted>
  <dcterms:created xsi:type="dcterms:W3CDTF">2011-02-03T15:57:38Z</dcterms:created>
  <dcterms:modified xsi:type="dcterms:W3CDTF">2026-04-24T19:39:39Z</dcterms:modified>
</cp:coreProperties>
</file>